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C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0C6DC"/>
                </a:solidFill>
                <a:latin typeface="Aptos"/>
              </a:rPr>
              <a:t>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08760"/>
            <a:ext cx="758952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5F8FC"/>
                </a:solidFill>
                <a:latin typeface="Aptos"/>
              </a:rPr>
              <a:t>Intelligent Disease
Prediction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46120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BECCDC"/>
                </a:solidFill>
                <a:latin typeface="Aptos"/>
              </a:rPr>
              <a:t>A data-driven framework for prediction, evaluation and deployment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1080" y="960120"/>
            <a:ext cx="2514600" cy="4480560"/>
          </a:xfrm>
          <a:prstGeom prst="roundRect">
            <a:avLst/>
          </a:prstGeom>
          <a:solidFill>
            <a:srgbClr val="0F1F37"/>
          </a:solidFill>
          <a:ln w="12700">
            <a:solidFill>
              <a:srgbClr val="30C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0" y="13716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0C6DC"/>
                </a:solidFill>
                <a:latin typeface="Aptos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828800"/>
            <a:ext cx="20574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5F8FC"/>
                </a:solidFill>
                <a:latin typeface="Aptos"/>
              </a:rPr>
              <a:t>Age
Blood Pressure
Glucose
BMI
Lifestyle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3977639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7BE87"/>
                </a:solidFill>
                <a:latin typeface="Aptos"/>
              </a:rPr>
              <a:t>ML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4434840"/>
            <a:ext cx="1965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5F8FC"/>
                </a:solidFill>
                <a:latin typeface="Aptos"/>
              </a:rPr>
              <a:t>RISK
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7150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D91AA"/>
                </a:solidFill>
                <a:latin typeface="Aptos"/>
              </a:rPr>
              <a:t>Technical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D91AA"/>
                </a:solidFill>
                <a:latin typeface="Aptos"/>
              </a:rPr>
              <a:t>MACHINE LEARNING • TECHNICAL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0C6DC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C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1. Problem Statement &amp; Practical Significance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80160"/>
            <a:ext cx="5394960" cy="4526280"/>
          </a:xfrm>
          <a:prstGeom prst="roundRect">
            <a:avLst/>
          </a:prstGeom>
          <a:solidFill>
            <a:srgbClr val="0F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0C6DC"/>
                </a:solidFill>
                <a:latin typeface="Aptos"/>
              </a:rPr>
              <a:t>WHY THIS PROBLEM?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Chronic diseases require early identification of high-risk patients.</a:t>
            </a:r>
          </a:p>
          <a:p>
            <a:pPr>
              <a:spcAft>
                <a:spcPts val="13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Clinical data contains patterns that may be difficult to identify manually.</a:t>
            </a:r>
          </a:p>
          <a:p>
            <a:pPr>
              <a:spcAft>
                <a:spcPts val="13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Machine learning can support faster, consistent risk assessment.</a:t>
            </a:r>
          </a:p>
          <a:p>
            <a:pPr>
              <a:spcAft>
                <a:spcPts val="13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The system is designed as a decision-support tool, not a replacement for clinicians.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280160"/>
            <a:ext cx="5303520" cy="4526280"/>
          </a:xfrm>
          <a:prstGeom prst="roundRect">
            <a:avLst/>
          </a:prstGeom>
          <a:solidFill>
            <a:srgbClr val="0F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60020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7BE87"/>
                </a:solidFill>
                <a:latin typeface="Aptos"/>
              </a:rPr>
              <a:t>TARGET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D91AA"/>
                </a:solidFill>
                <a:latin typeface="Aptos"/>
              </a:rPr>
              <a:t>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201168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0C6DC"/>
                </a:solidFill>
                <a:latin typeface="Aptos"/>
              </a:rPr>
              <a:t>Disease / No Disease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16352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D91AA"/>
                </a:solidFill>
                <a:latin typeface="Aptos"/>
              </a:rPr>
              <a:t>Probability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8163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29F3D"/>
                </a:solidFill>
                <a:latin typeface="Aptos"/>
              </a:rPr>
              <a:t>Risk score 0–1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621024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D91AA"/>
                </a:solidFill>
                <a:latin typeface="Aptos"/>
              </a:rPr>
              <a:t>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3621024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7BE87"/>
                </a:solidFill>
                <a:latin typeface="Aptos"/>
              </a:rPr>
              <a:t>Threshold-based class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425696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D91AA"/>
                </a:solidFill>
                <a:latin typeface="Aptos"/>
              </a:rPr>
              <a:t>Interpretation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4425696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Feature contribution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D91AA"/>
                </a:solidFill>
                <a:latin typeface="Aptos"/>
              </a:rPr>
              <a:t>MACHINE LEARNING • TECHNICAL 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0C6DC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C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2. Dataset &amp; 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ECCDC"/>
                </a:solidFill>
                <a:latin typeface="Aptos"/>
              </a:rPr>
              <a:t>Representative public clinical datasets can be used for reproducible benchmarking.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303520" cy="4892040"/>
          </a:xfrm>
          <a:prstGeom prst="roundRect">
            <a:avLst/>
          </a:prstGeom>
          <a:solidFill>
            <a:srgbClr val="0F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0C6DC"/>
                </a:solidFill>
                <a:latin typeface="Aptos"/>
              </a:rPr>
              <a:t>DATASET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Patient-level tabular observations.</a:t>
            </a:r>
          </a:p>
          <a:p>
            <a:pPr>
              <a:spcAft>
                <a:spcPts val="9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Numerical features: age, blood pressure, glucose, BMI, etc.</a:t>
            </a:r>
          </a:p>
          <a:p>
            <a:pPr>
              <a:spcAft>
                <a:spcPts val="9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Categorical / lifestyle variables can be encoded.</a:t>
            </a:r>
          </a:p>
          <a:p>
            <a:pPr>
              <a:spcAft>
                <a:spcPts val="9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Target label: disease presence or risk category.</a:t>
            </a:r>
          </a:p>
          <a:p>
            <a:pPr>
              <a:spcAft>
                <a:spcPts val="9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Train / validation / test split must avoid leakage.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234440"/>
            <a:ext cx="5394960" cy="4892040"/>
          </a:xfrm>
          <a:prstGeom prst="roundRect">
            <a:avLst/>
          </a:prstGeom>
          <a:solidFill>
            <a:srgbClr val="0F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7BE87"/>
                </a:solidFill>
                <a:latin typeface="Aptos"/>
              </a:rPr>
              <a:t>LITERATURE REVIEW — WHAT TO COMPARE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Logistic Regression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01168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ECCDC"/>
                </a:solidFill>
                <a:latin typeface="Aptos"/>
              </a:rPr>
              <a:t>Interpretable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724912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Decision Tree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272491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ECCDC"/>
                </a:solidFill>
                <a:latin typeface="Aptos"/>
              </a:rPr>
              <a:t>Rule-based 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438144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Random Forest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3438144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ECCDC"/>
                </a:solidFill>
                <a:latin typeface="Aptos"/>
              </a:rPr>
              <a:t>Robust ensemble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151376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SVM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4151376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ECCDC"/>
                </a:solidFill>
                <a:latin typeface="Aptos"/>
              </a:rPr>
              <a:t>Effective in complex boundaries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864608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Gradient Boosting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486460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ECCDC"/>
                </a:solidFill>
                <a:latin typeface="Aptos"/>
              </a:rPr>
              <a:t>Strong tabular 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548640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9F3D"/>
                </a:solidFill>
                <a:latin typeface="Aptos"/>
              </a:rPr>
              <a:t>Research gap → balance predictive performance, interpretability and deployment cost.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D91AA"/>
                </a:solidFill>
                <a:latin typeface="Aptos"/>
              </a:rPr>
              <a:t>MACHINE LEARNING • TECHNICAL PRESENTATION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0C6DC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C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3. Proposed Machine Learning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1600200" cy="2423160"/>
          </a:xfrm>
          <a:prstGeom prst="roundRect">
            <a:avLst/>
          </a:prstGeom>
          <a:solidFill>
            <a:srgbClr val="0F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201168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0C6DC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246888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3063240"/>
            <a:ext cx="1371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BECCDC"/>
                </a:solidFill>
                <a:latin typeface="Aptos"/>
              </a:rPr>
              <a:t>Collect
clinical data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12264" y="3017520"/>
            <a:ext cx="237744" cy="0"/>
          </a:xfrm>
          <a:prstGeom prst="line">
            <a:avLst/>
          </a:prstGeom>
          <a:ln w="25400">
            <a:solidFill>
              <a:srgbClr val="30C6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23160" y="1828800"/>
            <a:ext cx="1600200" cy="2423160"/>
          </a:xfrm>
          <a:prstGeom prst="roundRect">
            <a:avLst/>
          </a:prstGeom>
          <a:solidFill>
            <a:srgbClr val="0F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32888" y="201168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0C6DC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2888" y="246888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PREPROCESS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2888" y="3063240"/>
            <a:ext cx="1371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BECCDC"/>
                </a:solidFill>
                <a:latin typeface="Aptos"/>
              </a:rPr>
              <a:t>Clean • encode
normalize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32504" y="3017520"/>
            <a:ext cx="237744" cy="0"/>
          </a:xfrm>
          <a:prstGeom prst="line">
            <a:avLst/>
          </a:prstGeom>
          <a:ln w="25400">
            <a:solidFill>
              <a:srgbClr val="30C6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43400" y="1828800"/>
            <a:ext cx="1600200" cy="2423160"/>
          </a:xfrm>
          <a:prstGeom prst="roundRect">
            <a:avLst/>
          </a:prstGeom>
          <a:solidFill>
            <a:srgbClr val="0F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201168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0C6DC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246888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3063240"/>
            <a:ext cx="1371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BECCDC"/>
                </a:solidFill>
                <a:latin typeface="Aptos"/>
              </a:rPr>
              <a:t>Select useful
predictors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2744" y="3017520"/>
            <a:ext cx="237744" cy="0"/>
          </a:xfrm>
          <a:prstGeom prst="line">
            <a:avLst/>
          </a:prstGeom>
          <a:ln w="25400">
            <a:solidFill>
              <a:srgbClr val="30C6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63640" y="1828800"/>
            <a:ext cx="1600200" cy="2423160"/>
          </a:xfrm>
          <a:prstGeom prst="roundRect">
            <a:avLst/>
          </a:prstGeom>
          <a:solidFill>
            <a:srgbClr val="0F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201168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0C6DC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246888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3063240"/>
            <a:ext cx="1371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BECCDC"/>
                </a:solidFill>
                <a:latin typeface="Aptos"/>
              </a:rPr>
              <a:t>Train &amp; tune
classifier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872984" y="3017520"/>
            <a:ext cx="237744" cy="0"/>
          </a:xfrm>
          <a:prstGeom prst="line">
            <a:avLst/>
          </a:prstGeom>
          <a:ln w="25400">
            <a:solidFill>
              <a:srgbClr val="30C6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83880" y="1828800"/>
            <a:ext cx="1600200" cy="2423160"/>
          </a:xfrm>
          <a:prstGeom prst="roundRect">
            <a:avLst/>
          </a:prstGeom>
          <a:solidFill>
            <a:srgbClr val="0F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93608" y="201168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0C6DC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3608" y="246888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EVALUATE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8" y="3063240"/>
            <a:ext cx="1371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BECCDC"/>
                </a:solidFill>
                <a:latin typeface="Aptos"/>
              </a:rPr>
              <a:t>CV + test
metrics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793224" y="3017520"/>
            <a:ext cx="237744" cy="0"/>
          </a:xfrm>
          <a:prstGeom prst="line">
            <a:avLst/>
          </a:prstGeom>
          <a:ln w="25400">
            <a:solidFill>
              <a:srgbClr val="30C6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0104120" y="1828800"/>
            <a:ext cx="1600200" cy="2423160"/>
          </a:xfrm>
          <a:prstGeom prst="roundRect">
            <a:avLst/>
          </a:prstGeom>
          <a:solidFill>
            <a:srgbClr val="0F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13848" y="201168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0C6DC"/>
                </a:solidFill>
                <a:latin typeface="Aptos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13848" y="246888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DEPLOY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13848" y="3063240"/>
            <a:ext cx="1371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BECCDC"/>
                </a:solidFill>
                <a:latin typeface="Aptos"/>
              </a:rPr>
              <a:t>Risk score
&amp;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98348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29F3D"/>
                </a:solidFill>
                <a:latin typeface="Aptos"/>
              </a:rPr>
              <a:t>Core principle: every transformation learned from training data is applied identically to validation and test data.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D91AA"/>
                </a:solidFill>
                <a:latin typeface="Aptos"/>
              </a:rPr>
              <a:t>MACHINE LEARNING • TECHNICAL PRESENTATION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0C6DC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C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4. Preprocessing &amp; Feature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10789920" cy="713232"/>
          </a:xfrm>
          <a:prstGeom prst="roundRect">
            <a:avLst/>
          </a:prstGeom>
          <a:solidFill>
            <a:srgbClr val="0F1F37"/>
          </a:solidFill>
          <a:ln w="12700">
            <a:solidFill>
              <a:srgbClr val="30C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0C6DC"/>
                </a:solidFill>
                <a:latin typeface="Aptos"/>
              </a:rPr>
              <a:t>Data cleaning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371600"/>
            <a:ext cx="8229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Remove duplicates, impossible values and inconsistent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10789920" cy="713232"/>
          </a:xfrm>
          <a:prstGeom prst="roundRect">
            <a:avLst/>
          </a:prstGeom>
          <a:solidFill>
            <a:srgbClr val="0F1F37"/>
          </a:solidFill>
          <a:ln w="12700">
            <a:solidFill>
              <a:srgbClr val="37B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95144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7BE87"/>
                </a:solidFill>
                <a:latin typeface="Aptos"/>
              </a:rPr>
              <a:t>Missing values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286000"/>
            <a:ext cx="8229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Impute using statistically appropriate methods; preserve missingness when meaningful.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63240"/>
            <a:ext cx="10789920" cy="713232"/>
          </a:xfrm>
          <a:prstGeom prst="roundRect">
            <a:avLst/>
          </a:prstGeom>
          <a:solidFill>
            <a:srgbClr val="0F1F37"/>
          </a:solidFill>
          <a:ln w="12700">
            <a:solidFill>
              <a:srgbClr val="F29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09544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29F3D"/>
                </a:solidFill>
                <a:latin typeface="Aptos"/>
              </a:rPr>
              <a:t>Encoding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200400"/>
            <a:ext cx="8229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Convert categorical variables using one-hot or ordinal encoding.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977639"/>
            <a:ext cx="10789920" cy="713232"/>
          </a:xfrm>
          <a:prstGeom prst="roundRect">
            <a:avLst/>
          </a:prstGeom>
          <a:solidFill>
            <a:srgbClr val="0F1F37"/>
          </a:solidFill>
          <a:ln w="12700">
            <a:solidFill>
              <a:srgbClr val="30C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23944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0C6DC"/>
                </a:solidFill>
                <a:latin typeface="Aptos"/>
              </a:rPr>
              <a:t>Normalization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114800"/>
            <a:ext cx="8229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Scale numerical variables when required by the selected algorithm.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892040"/>
            <a:ext cx="10789920" cy="713232"/>
          </a:xfrm>
          <a:prstGeom prst="roundRect">
            <a:avLst/>
          </a:prstGeom>
          <a:solidFill>
            <a:srgbClr val="0F1F37"/>
          </a:solidFill>
          <a:ln w="12700">
            <a:solidFill>
              <a:srgbClr val="37B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38344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7BE87"/>
                </a:solidFill>
                <a:latin typeface="Aptos"/>
              </a:rPr>
              <a:t>Feature selection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5029200"/>
            <a:ext cx="8229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Remove redundant variables and reduce noise / dimensionality.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897880"/>
            <a:ext cx="10789920" cy="347472"/>
          </a:xfrm>
          <a:prstGeom prst="roundRect">
            <a:avLst/>
          </a:prstGeom>
          <a:solidFill>
            <a:srgbClr val="13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934456"/>
            <a:ext cx="10241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29F3D"/>
                </a:solidFill>
                <a:latin typeface="Aptos"/>
              </a:rPr>
              <a:t>Avoid data leakage: fit imputers, scalers and feature selectors only on the training partition.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D91AA"/>
                </a:solidFill>
                <a:latin typeface="Aptos"/>
              </a:rPr>
              <a:t>MACHINE LEARNING • TECHNICAL PRESENTATION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0C6DC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C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5. Model Selection &amp; Training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657600" cy="4800600"/>
          </a:xfrm>
          <a:prstGeom prst="roundRect">
            <a:avLst/>
          </a:prstGeom>
          <a:solidFill>
            <a:srgbClr val="0F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D91AA"/>
                </a:solidFill>
                <a:latin typeface="Aptos"/>
              </a:rPr>
              <a:t>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5F8FC"/>
                </a:solidFill>
                <a:latin typeface="Aptos"/>
              </a:rPr>
              <a:t>Logistic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BECCDC"/>
                </a:solidFill>
                <a:latin typeface="Aptos"/>
              </a:defRPr>
            </a:pPr>
            <a:r>
              <a:t>• Fast to train</a:t>
            </a:r>
          </a:p>
          <a:p>
            <a:pPr>
              <a:spcAft>
                <a:spcPts val="1000"/>
              </a:spcAft>
              <a:defRPr sz="1400">
                <a:solidFill>
                  <a:srgbClr val="BECCDC"/>
                </a:solidFill>
                <a:latin typeface="Aptos"/>
              </a:defRPr>
            </a:pPr>
            <a:r>
              <a:t>• Interpretable coefficients</a:t>
            </a:r>
          </a:p>
          <a:p>
            <a:pPr>
              <a:spcAft>
                <a:spcPts val="1000"/>
              </a:spcAft>
              <a:defRPr sz="1400">
                <a:solidFill>
                  <a:srgbClr val="BECCDC"/>
                </a:solidFill>
                <a:latin typeface="Aptos"/>
              </a:defRPr>
            </a:pPr>
            <a:r>
              <a:t>• Useful reference 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234440"/>
            <a:ext cx="3337560" cy="4800600"/>
          </a:xfrm>
          <a:prstGeom prst="roundRect">
            <a:avLst/>
          </a:prstGeom>
          <a:solidFill>
            <a:srgbClr val="0F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16002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0C6DC"/>
                </a:solidFill>
                <a:latin typeface="Aptos"/>
              </a:rPr>
              <a:t>PROPOSED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011680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5F8FC"/>
                </a:solidFill>
                <a:latin typeface="Aptos"/>
              </a:rPr>
              <a:t>Random Forest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743200"/>
            <a:ext cx="2560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BECCDC"/>
                </a:solidFill>
                <a:latin typeface="Aptos"/>
              </a:defRPr>
            </a:pPr>
            <a:r>
              <a:t>• Captures non-linear patterns</a:t>
            </a:r>
          </a:p>
          <a:p>
            <a:pPr>
              <a:spcAft>
                <a:spcPts val="1000"/>
              </a:spcAft>
              <a:defRPr sz="1400">
                <a:solidFill>
                  <a:srgbClr val="BECCDC"/>
                </a:solidFill>
                <a:latin typeface="Aptos"/>
              </a:defRPr>
            </a:pPr>
            <a:r>
              <a:t>• Handles mixed feature effects</a:t>
            </a:r>
          </a:p>
          <a:p>
            <a:pPr>
              <a:spcAft>
                <a:spcPts val="1000"/>
              </a:spcAft>
              <a:defRPr sz="1400">
                <a:solidFill>
                  <a:srgbClr val="BECCDC"/>
                </a:solidFill>
                <a:latin typeface="Aptos"/>
              </a:defRPr>
            </a:pPr>
            <a:r>
              <a:t>• Less sensitive to scaling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34440"/>
            <a:ext cx="3429000" cy="4800600"/>
          </a:xfrm>
          <a:prstGeom prst="roundRect">
            <a:avLst/>
          </a:prstGeom>
          <a:solidFill>
            <a:srgbClr val="0F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6002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7BE87"/>
                </a:solidFill>
                <a:latin typeface="Aptos"/>
              </a:rPr>
              <a:t>TUNING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057400"/>
            <a:ext cx="2651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Stratified k-fold CV</a:t>
            </a:r>
          </a:p>
          <a:p>
            <a:pPr>
              <a:spcAft>
                <a:spcPts val="11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Grid / randomized search</a:t>
            </a:r>
          </a:p>
          <a:p>
            <a:pPr>
              <a:spcAft>
                <a:spcPts val="11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Class imbalance handling</a:t>
            </a:r>
          </a:p>
          <a:p>
            <a:pPr>
              <a:spcAft>
                <a:spcPts val="11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Threshold optimization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5074920"/>
            <a:ext cx="2651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9F3D"/>
                </a:solidFill>
                <a:latin typeface="Aptos"/>
              </a:rPr>
              <a:t>Select the model using validation evidence—not training accuracy.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D91AA"/>
                </a:solidFill>
                <a:latin typeface="Aptos"/>
              </a:rPr>
              <a:t>MACHINE LEARNING • TECHNICAL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0C6DC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C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6. Evaluation &amp; Post-Processing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2011680" cy="1325880"/>
          </a:xfrm>
          <a:prstGeom prst="roundRect">
            <a:avLst/>
          </a:prstGeom>
          <a:solidFill>
            <a:srgbClr val="0F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627632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0C6DC"/>
                </a:solidFill>
                <a:latin typeface="Aptos"/>
              </a:rPr>
              <a:t>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057400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ECCDC"/>
                </a:solidFill>
                <a:latin typeface="Aptos"/>
              </a:rPr>
              <a:t>Overall correctness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62072" y="1371600"/>
            <a:ext cx="2011680" cy="1325880"/>
          </a:xfrm>
          <a:prstGeom prst="roundRect">
            <a:avLst/>
          </a:prstGeom>
          <a:solidFill>
            <a:srgbClr val="0F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1627632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7BE87"/>
                </a:solidFill>
                <a:latin typeface="Aptos"/>
              </a:rPr>
              <a:t>Precision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057400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ECCDC"/>
                </a:solidFill>
                <a:latin typeface="Aptos"/>
              </a:rPr>
              <a:t>Reliability of positive predictions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9784" y="1371600"/>
            <a:ext cx="2011680" cy="1325880"/>
          </a:xfrm>
          <a:prstGeom prst="roundRect">
            <a:avLst/>
          </a:prstGeom>
          <a:solidFill>
            <a:srgbClr val="0F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1627632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29F3D"/>
                </a:solidFill>
                <a:latin typeface="Aptos"/>
              </a:rPr>
              <a:t>Recall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9512" y="2057400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ECCDC"/>
                </a:solidFill>
                <a:latin typeface="Aptos"/>
              </a:rPr>
              <a:t>Ability to detect actual positives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97496" y="1371600"/>
            <a:ext cx="2011680" cy="1325880"/>
          </a:xfrm>
          <a:prstGeom prst="roundRect">
            <a:avLst/>
          </a:prstGeom>
          <a:solidFill>
            <a:srgbClr val="0F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07223" y="1627632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0C6DC"/>
                </a:solidFill>
                <a:latin typeface="Aptos"/>
              </a:rPr>
              <a:t>F1-score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07223" y="2057400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ECCDC"/>
                </a:solidFill>
                <a:latin typeface="Aptos"/>
              </a:rPr>
              <a:t>Balance of precision and recall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65208" y="1371600"/>
            <a:ext cx="2011680" cy="1325880"/>
          </a:xfrm>
          <a:prstGeom prst="roundRect">
            <a:avLst/>
          </a:prstGeom>
          <a:solidFill>
            <a:srgbClr val="0F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74936" y="1627632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7BE87"/>
                </a:solidFill>
                <a:latin typeface="Aptos"/>
              </a:rPr>
              <a:t>ROC-AUC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4936" y="2057400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ECCDC"/>
                </a:solidFill>
                <a:latin typeface="Aptos"/>
              </a:rPr>
              <a:t>Ranking / discrimination ability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063240"/>
            <a:ext cx="5349240" cy="2468880"/>
          </a:xfrm>
          <a:prstGeom prst="roundRect">
            <a:avLst/>
          </a:prstGeom>
          <a:solidFill>
            <a:srgbClr val="0F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38328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0C6DC"/>
                </a:solidFill>
                <a:latin typeface="Aptos"/>
              </a:rPr>
              <a:t>POST-PROCESSING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79476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Tune decision threshold for the application objective.</a:t>
            </a:r>
          </a:p>
          <a:p>
            <a:pPr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Convert probabilities into actionable risk classes.</a:t>
            </a:r>
          </a:p>
          <a:p>
            <a:pPr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Visualize confusion matrix and ROC curve.</a:t>
            </a:r>
          </a:p>
          <a:p>
            <a:pPr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Inspect false positives and false negatives.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063240"/>
            <a:ext cx="5394960" cy="2468880"/>
          </a:xfrm>
          <a:prstGeom prst="roundRect">
            <a:avLst/>
          </a:prstGeom>
          <a:solidFill>
            <a:srgbClr val="0F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38328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7BE87"/>
                </a:solidFill>
                <a:latin typeface="Aptos"/>
              </a:rPr>
              <a:t>CONFUSION MATRIX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12280" y="3977639"/>
            <a:ext cx="1234440" cy="530352"/>
          </a:xfrm>
          <a:prstGeom prst="round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407822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TN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977639"/>
            <a:ext cx="1234440" cy="530352"/>
          </a:xfrm>
          <a:prstGeom prst="round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407822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FP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12280" y="4663440"/>
            <a:ext cx="1234440" cy="530352"/>
          </a:xfrm>
          <a:prstGeom prst="round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476402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FN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4663440"/>
            <a:ext cx="1234440" cy="530352"/>
          </a:xfrm>
          <a:prstGeom prst="round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476402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TP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4069080"/>
            <a:ext cx="2560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29F3D"/>
                </a:solidFill>
                <a:latin typeface="Aptos"/>
              </a:rPr>
              <a:t>Focus on FN when missed disease detection has high clinical cost.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D91AA"/>
                </a:solidFill>
                <a:latin typeface="Aptos"/>
              </a:rPr>
              <a:t>MACHINE LEARNING • TECHNICAL PRESENTATION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0C6DC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C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7. Performance Analysis &amp; System Merit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6492240" cy="4709160"/>
          </a:xfrm>
          <a:prstGeom prst="roundRect">
            <a:avLst/>
          </a:prstGeom>
          <a:solidFill>
            <a:srgbClr val="0F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0C6DC"/>
                </a:solidFill>
                <a:latin typeface="Aptos"/>
              </a:rPr>
              <a:t>ILLUSTRATIVE TEST-SET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Logistic Regression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2148840"/>
            <a:ext cx="2971800" cy="292608"/>
          </a:xfrm>
          <a:prstGeom prst="rect">
            <a:avLst/>
          </a:prstGeom>
          <a:solidFill>
            <a:srgbClr val="1C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54680" y="2148840"/>
            <a:ext cx="2436876" cy="292608"/>
          </a:xfrm>
          <a:prstGeom prst="rect">
            <a:avLst/>
          </a:prstGeom>
          <a:solidFill>
            <a:srgbClr val="30C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213055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F5F8FC"/>
                </a:solidFill>
                <a:latin typeface="Aptos"/>
              </a:rPr>
              <a:t>0.82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Decision Tree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2926080"/>
            <a:ext cx="2971800" cy="292608"/>
          </a:xfrm>
          <a:prstGeom prst="rect">
            <a:avLst/>
          </a:prstGeom>
          <a:solidFill>
            <a:srgbClr val="1C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54680" y="2926080"/>
            <a:ext cx="2347722" cy="292608"/>
          </a:xfrm>
          <a:prstGeom prst="rect">
            <a:avLst/>
          </a:prstGeom>
          <a:solidFill>
            <a:srgbClr val="30C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90779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F5F8FC"/>
                </a:solidFill>
                <a:latin typeface="Aptos"/>
              </a:rPr>
              <a:t>0.79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03320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Random Forest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54680" y="3703320"/>
            <a:ext cx="2971800" cy="292608"/>
          </a:xfrm>
          <a:prstGeom prst="rect">
            <a:avLst/>
          </a:prstGeom>
          <a:solidFill>
            <a:srgbClr val="1C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54680" y="3703320"/>
            <a:ext cx="2615184" cy="292608"/>
          </a:xfrm>
          <a:prstGeom prst="rect">
            <a:avLst/>
          </a:prstGeom>
          <a:solidFill>
            <a:srgbClr val="30C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368503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F5F8FC"/>
                </a:solidFill>
                <a:latin typeface="Aptos"/>
              </a:rPr>
              <a:t>0.88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480560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Gradient Boosting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54680" y="4480560"/>
            <a:ext cx="2971800" cy="292608"/>
          </a:xfrm>
          <a:prstGeom prst="rect">
            <a:avLst/>
          </a:prstGeom>
          <a:solidFill>
            <a:srgbClr val="1C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54680" y="4480560"/>
            <a:ext cx="2674620" cy="292608"/>
          </a:xfrm>
          <a:prstGeom prst="rect">
            <a:avLst/>
          </a:prstGeom>
          <a:solidFill>
            <a:srgbClr val="30C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44622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F5F8FC"/>
                </a:solidFill>
                <a:latin typeface="Aptos"/>
              </a:rPr>
              <a:t>0.90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4068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D91AA"/>
                </a:solidFill>
                <a:latin typeface="Aptos"/>
              </a:rPr>
              <a:t>Note: values shown are presentation examples; replace with measured experiment results.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60920" y="1280160"/>
            <a:ext cx="4206240" cy="4709160"/>
          </a:xfrm>
          <a:prstGeom prst="roundRect">
            <a:avLst/>
          </a:prstGeom>
          <a:solidFill>
            <a:srgbClr val="0F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0" y="160020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7BE87"/>
                </a:solidFill>
                <a:latin typeface="Aptos"/>
              </a:rPr>
              <a:t>MERIT OF THE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2057400"/>
            <a:ext cx="3200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Improved predictive consistency</a:t>
            </a:r>
          </a:p>
          <a:p>
            <a:pPr>
              <a:spcAft>
                <a:spcPts val="12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Better sensitivity–specificity trade-off</a:t>
            </a:r>
          </a:p>
          <a:p>
            <a:pPr>
              <a:spcAft>
                <a:spcPts val="12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Scalable tabular ML workflow</a:t>
            </a:r>
          </a:p>
          <a:p>
            <a:pPr>
              <a:spcAft>
                <a:spcPts val="12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Reproducible evaluation</a:t>
            </a:r>
          </a:p>
          <a:p>
            <a:pPr>
              <a:spcAft>
                <a:spcPts val="12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Potential for decision support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5166360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29F3D"/>
                </a:solidFill>
                <a:latin typeface="Aptos"/>
              </a:rPr>
              <a:t>The claim of superiority must be supported by identical test conditions and statistical validation.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D91AA"/>
                </a:solidFill>
                <a:latin typeface="Aptos"/>
              </a:rPr>
              <a:t>MACHINE LEARNING • TECHNICAL PRESENTATION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0C6DC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C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8. Learning Problems &amp; Perspectives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337560" cy="2240280"/>
          </a:xfrm>
          <a:prstGeom prst="roundRect">
            <a:avLst/>
          </a:prstGeom>
          <a:solidFill>
            <a:srgbClr val="0F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66420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0C6DC"/>
                </a:solidFill>
                <a:latin typeface="Aptos"/>
              </a:rPr>
              <a:t>SUPERVISED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28803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Known labels
Classification
Regression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325880"/>
            <a:ext cx="3337560" cy="2240280"/>
          </a:xfrm>
          <a:prstGeom prst="roundRect">
            <a:avLst/>
          </a:prstGeom>
          <a:solidFill>
            <a:srgbClr val="0F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6420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7BE87"/>
                </a:solidFill>
                <a:latin typeface="Aptos"/>
              </a:rPr>
              <a:t>UNSUPERVISED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240280"/>
            <a:ext cx="28803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No labels
Clustering
Dimensionality reduction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325880"/>
            <a:ext cx="3337560" cy="2240280"/>
          </a:xfrm>
          <a:prstGeom prst="roundRect">
            <a:avLst/>
          </a:prstGeom>
          <a:solidFill>
            <a:srgbClr val="0F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66420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29F3D"/>
                </a:solidFill>
                <a:latin typeface="Aptos"/>
              </a:rPr>
              <a:t>REINFORCEMENT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240280"/>
            <a:ext cx="28803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Rewards / penalties
Sequential decisions
Policy learning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86200"/>
            <a:ext cx="7086600" cy="1920240"/>
          </a:xfrm>
          <a:prstGeom prst="roundRect">
            <a:avLst/>
          </a:prstGeom>
          <a:solidFill>
            <a:srgbClr val="0F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6309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0C6DC"/>
                </a:solidFill>
                <a:latin typeface="Aptos"/>
              </a:rPr>
              <a:t>TWO COMPLEMENTARY PERSPECTIVES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63440"/>
            <a:ext cx="6309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Symbolic → rules, logic and explicit representations
Statistical → probability, optimization and learned representations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3886200"/>
            <a:ext cx="3566160" cy="1920240"/>
          </a:xfrm>
          <a:prstGeom prst="roundRect">
            <a:avLst/>
          </a:prstGeom>
          <a:solidFill>
            <a:srgbClr val="0F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420624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7BE87"/>
                </a:solidFill>
                <a:latin typeface="Aptos"/>
              </a:rPr>
              <a:t>KEY DESIGN ISSUES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4663440"/>
            <a:ext cx="29260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Data quality • Overfitting
Compute cost • Interpretability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D91AA"/>
                </a:solidFill>
                <a:latin typeface="Aptos"/>
              </a:rPr>
              <a:t>MACHINE LEARNING • TECHNICAL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0C6DC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C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9. Future Scope &amp; Publication Potential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212080" cy="4754880"/>
          </a:xfrm>
          <a:prstGeom prst="roundRect">
            <a:avLst/>
          </a:prstGeom>
          <a:solidFill>
            <a:srgbClr val="0F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0C6DC"/>
                </a:solidFill>
                <a:latin typeface="Aptos"/>
              </a:rPr>
              <a:t>FUTURE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480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Expand to larger and multi-centre datasets.</a:t>
            </a:r>
          </a:p>
          <a:p>
            <a:pPr>
              <a:spcAft>
                <a:spcPts val="10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Integrate real-time patient / wearable data.</a:t>
            </a:r>
          </a:p>
          <a:p>
            <a:pPr>
              <a:spcAft>
                <a:spcPts val="10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Evaluate deep learning and hybrid ensembles.</a:t>
            </a:r>
          </a:p>
          <a:p>
            <a:pPr>
              <a:spcAft>
                <a:spcPts val="10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Add explainable AI using SHAP / feature attribution.</a:t>
            </a:r>
          </a:p>
          <a:p>
            <a:pPr>
              <a:spcAft>
                <a:spcPts val="10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Deploy through a secure clinical decision-support interface.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280160"/>
            <a:ext cx="5440680" cy="4754880"/>
          </a:xfrm>
          <a:prstGeom prst="roundRect">
            <a:avLst/>
          </a:prstGeom>
          <a:solidFill>
            <a:srgbClr val="0F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7BE87"/>
                </a:solidFill>
                <a:latin typeface="Aptos"/>
              </a:rPr>
              <a:t>RESEARCH / PUBLICATION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0574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0C6DC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0574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Problem + research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69748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0C6DC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6974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Dataset + methodology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33756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0C6DC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333756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Experimental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0C6DC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977639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Comparative discussion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61772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0C6DC"/>
                </a:solidFill>
                <a:latin typeface="Apto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46177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Limitations + future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5349240"/>
            <a:ext cx="4480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29F3D"/>
                </a:solidFill>
                <a:latin typeface="Aptos"/>
              </a:rPr>
              <a:t>A publishable contribution should be reproducible, statistically supported and clearly differentiated from prior work.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D91AA"/>
                </a:solidFill>
                <a:latin typeface="Aptos"/>
              </a:rPr>
              <a:t>MACHINE LEARNING • TECHNICAL PRESENTATION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0C6DC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C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10.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30C6DC"/>
                </a:solidFill>
                <a:latin typeface="Aptos"/>
              </a:rPr>
              <a:t>FROM DATA →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148840"/>
            <a:ext cx="9966960" cy="2514600"/>
          </a:xfrm>
          <a:prstGeom prst="roundRect">
            <a:avLst/>
          </a:prstGeom>
          <a:solidFill>
            <a:srgbClr val="0F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256032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5F8FC"/>
                </a:solidFill>
                <a:latin typeface="Aptos"/>
              </a:rPr>
              <a:t>A robust ML system is not defined by accuracy alone.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320040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BECCDC"/>
                </a:solidFill>
                <a:latin typeface="Aptos"/>
              </a:rPr>
              <a:t>It requires relevant data, leakage-free preprocessing, appropriate model selection,
robust validation, meaningful metrics, interpretable outputs and reproducible comparison.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5166360"/>
            <a:ext cx="9235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7BE87"/>
                </a:solidFill>
                <a:latin typeface="Aptos"/>
              </a:rPr>
              <a:t>Practical impact + scientific rigor + deployability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D91AA"/>
                </a:solidFill>
                <a:latin typeface="Aptos"/>
              </a:rPr>
              <a:t>MACHINE LEARNING • TECHNICAL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0C6DC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C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References &amp; Suggested Reading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10835640" cy="4983480"/>
          </a:xfrm>
          <a:prstGeom prst="roundRect">
            <a:avLst/>
          </a:prstGeom>
          <a:solidFill>
            <a:srgbClr val="0F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058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1. Mitchell, T. M., Machine Learning, McGraw-Hill.</a:t>
            </a:r>
          </a:p>
          <a:p>
            <a:pPr>
              <a:spcAft>
                <a:spcPts val="12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2. Géron, A., Hands-On Machine Learning with Scikit-Learn, Keras &amp; TensorFlow.</a:t>
            </a:r>
          </a:p>
          <a:p>
            <a:pPr>
              <a:spcAft>
                <a:spcPts val="12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3. Hastie, T., Tibshirani, R., Friedman, J., The Elements of Statistical Learning.</a:t>
            </a:r>
          </a:p>
          <a:p>
            <a:pPr>
              <a:spcAft>
                <a:spcPts val="12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4. Pedregosa et al., Scikit-learn: Machine Learning in Python, JMLR.</a:t>
            </a:r>
          </a:p>
          <a:p>
            <a:pPr>
              <a:spcAft>
                <a:spcPts val="12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5. Recent peer-reviewed studies on ML-based disease prediction, explainable AI and clinical decision support.</a:t>
            </a:r>
          </a:p>
          <a:p>
            <a:pPr>
              <a:spcAft>
                <a:spcPts val="12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6. Public benchmark datasets such as UCI / Kaggle clinical datasets, subject to dataset licensing and documentation.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532120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29F3D"/>
                </a:solidFill>
                <a:latin typeface="Aptos"/>
              </a:rPr>
              <a:t>For the final academic submission, replace the generic literature item with 5–10 recent papers from 2022–2026 and cite them consistently.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D91AA"/>
                </a:solidFill>
                <a:latin typeface="Aptos"/>
              </a:rPr>
              <a:t>MACHINE LEARNING • TECHNICAL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0C6DC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